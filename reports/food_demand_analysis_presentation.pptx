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932688"/>
            <a:ext cx="137160" cy="4828032"/>
          </a:xfrm>
          <a:prstGeom prst="rect">
            <a:avLst/>
          </a:prstGeom>
          <a:solidFill>
            <a:srgbClr val="16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1417320"/>
            <a:ext cx="9966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9EDAD4"/>
                </a:solidFill>
                <a:latin typeface="Aptos"/>
              </a:rPr>
              <a:t>DATA-INFORMED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993392"/>
            <a:ext cx="996696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Food Demand</a:t>
            </a:r>
          </a:p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3712463"/>
            <a:ext cx="92354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D9E5EC"/>
                </a:solidFill>
                <a:latin typeface="Aptos"/>
              </a:rPr>
              <a:t>From order data to actionable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43584" y="4846320"/>
            <a:ext cx="2971800" cy="512064"/>
          </a:xfrm>
          <a:prstGeom prst="roundRect">
            <a:avLst>
              <a:gd name="adj" fmla="val 12000"/>
            </a:avLst>
          </a:prstGeom>
          <a:solidFill>
            <a:srgbClr val="16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62456" y="4956048"/>
            <a:ext cx="27432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FOOD DEMAND ANALYSIS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6126480"/>
            <a:ext cx="9601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7C8D4"/>
                </a:solidFill>
                <a:latin typeface="Aptos"/>
              </a:rPr>
              <a:t>A concise review of demand patterns, planning opportunities, and limits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7D78"/>
                </a:solidFill>
                <a:latin typeface="Aptos"/>
              </a:rPr>
              <a:t>01  / 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7324D"/>
                </a:solidFill>
                <a:latin typeface="Aptos"/>
              </a:rPr>
              <a:t>Better demand visibility can support better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70432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383"/>
                </a:solidFill>
                <a:latin typeface="Aptos"/>
              </a:rPr>
              <a:t>The available records show what was ordered across observed weeks, meals, and fulfilment centers.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51967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17383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47088"/>
            <a:ext cx="5074920" cy="4096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57984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7324D"/>
                </a:solidFill>
                <a:latin typeface="Aptos"/>
              </a:rPr>
              <a:t>What should planners understand?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843784"/>
            <a:ext cx="91440" cy="91440"/>
          </a:xfrm>
          <a:prstGeom prst="rect">
            <a:avLst/>
          </a:prstGeom>
          <a:solidFill>
            <a:srgbClr val="16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788920"/>
            <a:ext cx="417880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When demand shifts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18103"/>
            <a:ext cx="4178808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313F"/>
                </a:solidFill>
                <a:latin typeface="Aptos"/>
              </a:rPr>
              <a:t>Identify weekly peaks and lows to inform review of planning assumptions.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023359"/>
            <a:ext cx="91440" cy="91440"/>
          </a:xfrm>
          <a:prstGeom prst="rect">
            <a:avLst/>
          </a:prstGeom>
          <a:solidFill>
            <a:srgbClr val="E7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68496"/>
            <a:ext cx="417880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Where demand concentrates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97680"/>
            <a:ext cx="4178808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313F"/>
                </a:solidFill>
                <a:latin typeface="Aptos"/>
              </a:rPr>
              <a:t>See which categories and meals account for most recorded orders.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5193792"/>
            <a:ext cx="91440" cy="91440"/>
          </a:xfrm>
          <a:prstGeom prst="rect">
            <a:avLst/>
          </a:prstGeom>
          <a:solidFill>
            <a:srgbClr val="16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138928"/>
            <a:ext cx="417880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What varies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413248"/>
            <a:ext cx="41788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313F"/>
                </a:solidFill>
                <a:latin typeface="Aptos"/>
              </a:rPr>
              <a:t>Compare observed patterns by meal, promotion flag, and center.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847088"/>
            <a:ext cx="5440680" cy="4096512"/>
          </a:xfrm>
          <a:prstGeom prst="roundRect">
            <a:avLst>
              <a:gd name="adj" fmla="val 12000"/>
            </a:avLst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176272"/>
            <a:ext cx="4709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7324D"/>
                </a:solidFill>
                <a:latin typeface="Aptos"/>
              </a:rPr>
              <a:t>Why it matters for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07792"/>
            <a:ext cx="4645152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2313F"/>
                </a:solidFill>
                <a:latin typeface="Aptos"/>
              </a:rPr>
              <a:t>Planning stock and replenishment around observed demand can help teams focus attention where volumes and variability are greatest.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389120"/>
            <a:ext cx="452628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553712"/>
            <a:ext cx="411480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7324D"/>
                </a:solidFill>
                <a:latin typeface="Aptos"/>
              </a:rPr>
              <a:t>This analysis describes patterns; it does not forecast demand or prove what caused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17383"/>
                </a:solidFill>
                <a:latin typeface="Aptos"/>
              </a:rPr>
              <a:t>FOOD DEMAND ANALYSIS  •  OBSERVED ORDER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7D78"/>
                </a:solidFill>
                <a:latin typeface="Aptos"/>
              </a:rPr>
              <a:t>02  /  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7324D"/>
                </a:solidFill>
                <a:latin typeface="Aptos"/>
              </a:rPr>
              <a:t>A checked training dataset underpins the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70432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383"/>
                </a:solidFill>
                <a:latin typeface="Aptos"/>
              </a:rPr>
              <a:t>Training records and two reference tables provide observed demand and meal/center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51967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17383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83664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67D78"/>
                </a:solidFill>
                <a:latin typeface="Aptos"/>
              </a:rPr>
              <a:t>456,548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31720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17383"/>
                </a:solidFill>
                <a:latin typeface="Aptos"/>
              </a:rPr>
              <a:t>training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232" y="1755648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1883664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67D78"/>
                </a:solidFill>
                <a:latin typeface="Aptos"/>
              </a:rPr>
              <a:t>119.6M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31720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17383"/>
                </a:solidFill>
                <a:latin typeface="Aptos"/>
              </a:rPr>
              <a:t>recorded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0096" y="1755648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77256" y="1883664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67D78"/>
                </a:solidFill>
                <a:latin typeface="Aptos"/>
              </a:rPr>
              <a:t>145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4" y="2331720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17383"/>
                </a:solidFill>
                <a:latin typeface="Aptos"/>
              </a:rPr>
              <a:t>observed weeks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755648"/>
            <a:ext cx="3611880" cy="960120"/>
          </a:xfrm>
          <a:prstGeom prst="roundRect">
            <a:avLst>
              <a:gd name="adj" fmla="val 12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874519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9EDAD4"/>
                </a:solidFill>
                <a:latin typeface="Aptos"/>
              </a:rPr>
              <a:t>DATA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157984"/>
            <a:ext cx="3154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train.csv • meal_info.csv • fulfilment_center_info.csv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test.csv: schema check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072384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7D78"/>
                </a:solidFill>
                <a:latin typeface="Aptos"/>
              </a:rPr>
              <a:t>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84448"/>
            <a:ext cx="254203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73075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7D78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059936"/>
            <a:ext cx="22128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7324D"/>
                </a:solidFill>
                <a:latin typeface="Aptos"/>
              </a:rPr>
              <a:t>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462272"/>
            <a:ext cx="219456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313F"/>
                </a:solidFill>
                <a:latin typeface="Aptos"/>
              </a:rPr>
              <a:t>columns, types, missingness, duplicates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4160520"/>
            <a:ext cx="2377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617383"/>
                </a:solidFill>
                <a:latin typeface="Apto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38728" y="3584448"/>
            <a:ext cx="254203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73075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7D78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059936"/>
            <a:ext cx="22128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7324D"/>
                </a:solidFill>
                <a:latin typeface="Aptos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462272"/>
            <a:ext cx="219456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313F"/>
                </a:solidFill>
                <a:latin typeface="Aptos"/>
              </a:rPr>
              <a:t>keys and join row/order totals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160520"/>
            <a:ext cx="2377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617383"/>
                </a:solidFill>
                <a:latin typeface="Aptos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91656" y="3584448"/>
            <a:ext cx="254203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73075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7D78"/>
                </a:solidFill>
                <a:latin typeface="Apto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4059936"/>
            <a:ext cx="22128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7324D"/>
                </a:solidFill>
                <a:latin typeface="Aptos"/>
              </a:rPr>
              <a:t>Analyze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4462272"/>
            <a:ext cx="219456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313F"/>
                </a:solidFill>
                <a:latin typeface="Aptos"/>
              </a:rPr>
              <a:t>weekly, category, center, meal, price &amp; promotion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9408" y="4160520"/>
            <a:ext cx="2377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617383"/>
                </a:solidFill>
                <a:latin typeface="Aptos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44584" y="3584448"/>
            <a:ext cx="254203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9176" y="373075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7D78"/>
                </a:solidFill>
                <a:latin typeface="Apto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9176" y="4059936"/>
            <a:ext cx="22128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7324D"/>
                </a:solidFill>
                <a:latin typeface="Aptos"/>
              </a:rPr>
              <a:t>Communicate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9176" y="4462272"/>
            <a:ext cx="219456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313F"/>
                </a:solidFill>
                <a:latin typeface="Aptos"/>
              </a:rPr>
              <a:t>summaries and clear charts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559552"/>
            <a:ext cx="106070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7324D"/>
                </a:solidFill>
                <a:latin typeface="Aptos"/>
              </a:rPr>
              <a:t>Tools used: Python  •  Pandas  •  NumPy  •  SciPy  •  Matplotlib  •  Jupyter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17383"/>
                </a:solidFill>
                <a:latin typeface="Aptos"/>
              </a:rPr>
              <a:t>FOOD DEMAND ANALYSIS  •  OBSERVED ORDER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7D78"/>
                </a:solidFill>
                <a:latin typeface="Aptos"/>
              </a:rPr>
              <a:t>03  /  KEY FINDING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7324D"/>
                </a:solidFill>
                <a:latin typeface="Aptos"/>
              </a:rPr>
              <a:t>Five categories account for 81.40% of all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70432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383"/>
                </a:solidFill>
                <a:latin typeface="Aptos"/>
              </a:rPr>
              <a:t>A concentrated order mix offers a practical starting point for demand-planning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51967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17383"/>
                </a:solidFill>
                <a:latin typeface="Aptos"/>
              </a:rPr>
              <a:t>04</a:t>
            </a:r>
          </a:p>
        </p:txBody>
      </p:sp>
      <p:pic>
        <p:nvPicPr>
          <p:cNvPr id="6" name="Picture 5" descr="category_demand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82215"/>
            <a:ext cx="7315200" cy="450738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56448" y="1828800"/>
            <a:ext cx="3291840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9327" y="1947672"/>
            <a:ext cx="2926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2300" b="1" i="0">
                <a:solidFill>
                  <a:srgbClr val="167D78"/>
                </a:solidFill>
                <a:latin typeface="Aptos"/>
              </a:rPr>
              <a:t>119,557,485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2395728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17383"/>
                </a:solidFill>
                <a:latin typeface="Aptos"/>
              </a:rPr>
              <a:t>total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3072384"/>
            <a:ext cx="3291840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3191256"/>
            <a:ext cx="2926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2300" b="1" i="0">
                <a:solidFill>
                  <a:srgbClr val="167D78"/>
                </a:solidFill>
                <a:latin typeface="Aptos"/>
              </a:rPr>
              <a:t>81.40%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363931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17383"/>
                </a:solidFill>
                <a:latin typeface="Aptos"/>
              </a:rPr>
              <a:t>from five categories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4315968"/>
            <a:ext cx="3291840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4434840"/>
            <a:ext cx="2926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2300" b="1" i="0">
                <a:solidFill>
                  <a:srgbClr val="E7A63B"/>
                </a:solidFill>
                <a:latin typeface="Aptos"/>
              </a:rPr>
              <a:t>1,303,457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4882896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17383"/>
                </a:solidFill>
                <a:latin typeface="Aptos"/>
              </a:rPr>
              <a:t>peak in Week 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5742432"/>
            <a:ext cx="31272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7324D"/>
                </a:solidFill>
                <a:latin typeface="Aptos"/>
              </a:rPr>
              <a:t>Top five: Beverages, Rice Bowl,</a:t>
            </a:r>
          </a:p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7324D"/>
                </a:solidFill>
                <a:latin typeface="Aptos"/>
              </a:rPr>
              <a:t>Sandwich, Salad, and Pizza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17383"/>
                </a:solidFill>
                <a:latin typeface="Aptos"/>
              </a:rPr>
              <a:t>FOOD DEMAND ANALYSIS  •  OBSERVED ORDER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7D78"/>
                </a:solidFill>
                <a:latin typeface="Aptos"/>
              </a:rPr>
              <a:t>04  /  KEY FINDING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7324D"/>
                </a:solidFill>
                <a:latin typeface="Aptos"/>
              </a:rPr>
              <a:t>Price and promotion patterns are associations—not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70432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383"/>
                </a:solidFill>
                <a:latin typeface="Aptos"/>
              </a:rPr>
              <a:t>The observed discount relationship is weak; promotion rows differ, but the comparison is observational.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51967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17383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1591056"/>
            <a:ext cx="5468112" cy="40507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81344" y="1591056"/>
            <a:ext cx="5449824" cy="40507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scount_vs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90" y="1783080"/>
            <a:ext cx="4769186" cy="3154680"/>
          </a:xfrm>
          <a:prstGeom prst="rect">
            <a:avLst/>
          </a:prstGeom>
        </p:spPr>
      </p:pic>
      <p:pic>
        <p:nvPicPr>
          <p:cNvPr id="9" name="Picture 8" descr="promotion_orde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945" y="1783080"/>
            <a:ext cx="4912333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6968" y="4974336"/>
            <a:ext cx="4892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7324D"/>
                </a:solidFill>
                <a:latin typeface="Aptos"/>
              </a:rPr>
              <a:t>Spearman ρ = 0.1218</a:t>
            </a:r>
          </a:p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7324D"/>
                </a:solidFill>
                <a:latin typeface="Aptos"/>
              </a:rPr>
              <a:t>Weak positive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4974336"/>
            <a:ext cx="4846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7324D"/>
                </a:solidFill>
                <a:latin typeface="Aptos"/>
              </a:rPr>
              <a:t>Email-promo rows: +147.84% mean orders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7324D"/>
                </a:solidFill>
                <a:latin typeface="Aptos"/>
              </a:rPr>
              <a:t>Repeated observations; not causal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17383"/>
                </a:solidFill>
                <a:latin typeface="Aptos"/>
              </a:rPr>
              <a:t>FOOD DEMAND ANALYSIS  •  OBSERVED ORDER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7D78"/>
                </a:solidFill>
                <a:latin typeface="Aptos"/>
              </a:rPr>
              <a:t>05  / 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7324D"/>
                </a:solidFill>
                <a:latin typeface="Aptos"/>
              </a:rPr>
              <a:t>Turn the findings into measurable planning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70432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383"/>
                </a:solidFill>
                <a:latin typeface="Aptos"/>
              </a:rPr>
              <a:t>Establish a baseline first; evaluate changes over comparable future periods.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51967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17383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1755648"/>
            <a:ext cx="3547872" cy="4315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" y="1755648"/>
            <a:ext cx="3547872" cy="146304"/>
          </a:xfrm>
          <a:prstGeom prst="rect">
            <a:avLst/>
          </a:prstGeom>
          <a:solidFill>
            <a:srgbClr val="16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75688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7D7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42032"/>
            <a:ext cx="3035808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7324D"/>
                </a:solidFill>
                <a:latin typeface="Aptos"/>
              </a:rPr>
              <a:t>Prioritize high-share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429000"/>
            <a:ext cx="3035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7D78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94176"/>
            <a:ext cx="30358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313F"/>
                </a:solidFill>
                <a:latin typeface="Aptos"/>
              </a:rPr>
              <a:t>Five categories represent 81.40% of orders.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572000"/>
            <a:ext cx="3035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7D78"/>
                </a:solidFill>
                <a:latin typeface="Aptos"/>
              </a:rPr>
              <a:t>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37176"/>
            <a:ext cx="3035808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313F"/>
                </a:solidFill>
                <a:latin typeface="Aptos"/>
              </a:rPr>
              <a:t>Weekly stockout and unfulfilled-order rates for those categories.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1755648"/>
            <a:ext cx="3547872" cy="4315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53128" y="1755648"/>
            <a:ext cx="3547872" cy="146304"/>
          </a:xfrm>
          <a:prstGeom prst="rect">
            <a:avLst/>
          </a:prstGeom>
          <a:solidFill>
            <a:srgbClr val="E7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2075688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E7A63B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542032"/>
            <a:ext cx="3035808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7324D"/>
                </a:solidFill>
                <a:latin typeface="Aptos"/>
              </a:rPr>
              <a:t>Plan for volume and variability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429000"/>
            <a:ext cx="3035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7D78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694176"/>
            <a:ext cx="30358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313F"/>
                </a:solidFill>
                <a:latin typeface="Aptos"/>
              </a:rPr>
              <a:t>Meal 2290: 9.77M orders; meal 2444: CV 1.205.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4572000"/>
            <a:ext cx="3035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7D78"/>
                </a:solidFill>
                <a:latin typeface="Aptos"/>
              </a:rPr>
              <a:t>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4837176"/>
            <a:ext cx="3035808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313F"/>
                </a:solidFill>
                <a:latin typeface="Aptos"/>
              </a:rPr>
              <a:t>Meal-level forecast error and stockout rate, reported by demand/volatility group.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3608" y="1755648"/>
            <a:ext cx="3547872" cy="4315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93608" y="1755648"/>
            <a:ext cx="3547872" cy="146304"/>
          </a:xfrm>
          <a:prstGeom prst="rect">
            <a:avLst/>
          </a:prstGeom>
          <a:solidFill>
            <a:srgbClr val="52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2075688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526E91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2542032"/>
            <a:ext cx="3035808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7324D"/>
                </a:solidFill>
                <a:latin typeface="Aptos"/>
              </a:rPr>
              <a:t>Test before scaling promotions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3429000"/>
            <a:ext cx="3035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7D78"/>
                </a:solidFill>
                <a:latin typeface="Aptos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3694176"/>
            <a:ext cx="30358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313F"/>
                </a:solidFill>
                <a:latin typeface="Aptos"/>
              </a:rPr>
              <a:t>Email-promo rows show +147.84% mean orders; observational 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4572000"/>
            <a:ext cx="3035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7D78"/>
                </a:solidFill>
                <a:latin typeface="Aptos"/>
              </a:rPr>
              <a:t>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837176"/>
            <a:ext cx="3035808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313F"/>
                </a:solidFill>
                <a:latin typeface="Aptos"/>
              </a:rPr>
              <a:t>Incremental orders per eligible meal-center-week and margin per promotion cost in a controlled test.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17383"/>
                </a:solidFill>
                <a:latin typeface="Aptos"/>
              </a:rPr>
              <a:t>FOOD DEMAND ANALYSIS  •  OBSERVED ORDER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67D78"/>
                </a:solidFill>
                <a:latin typeface="Aptos"/>
              </a:rPr>
              <a:t>06  / 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7324D"/>
                </a:solidFill>
                <a:latin typeface="Aptos"/>
              </a:rPr>
              <a:t>Use the findings with these boundaries in 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70432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383"/>
                </a:solidFill>
                <a:latin typeface="Aptos"/>
              </a:rPr>
              <a:t>The analysis describes recorded observations, not a complete picture of business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51967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17383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37360"/>
            <a:ext cx="524865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883664"/>
            <a:ext cx="48006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7324D"/>
                </a:solidFill>
                <a:latin typeface="Aptos"/>
              </a:rPr>
              <a:t>No calendar 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212848"/>
            <a:ext cx="4800600" cy="448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313F"/>
                </a:solidFill>
                <a:latin typeface="Aptos"/>
              </a:rPr>
              <a:t>Week numbers are observed period labels; actual dates are not established.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45936" y="1737360"/>
            <a:ext cx="524865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883664"/>
            <a:ext cx="48006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7324D"/>
                </a:solidFill>
                <a:latin typeface="Aptos"/>
              </a:rPr>
              <a:t>No causal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212848"/>
            <a:ext cx="4800600" cy="448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313F"/>
                </a:solidFill>
                <a:latin typeface="Aptos"/>
              </a:rPr>
              <a:t>Correlation and observational comparisons cannot show that a promotion or discount caused demand to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90672"/>
            <a:ext cx="524865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236976"/>
            <a:ext cx="48006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7324D"/>
                </a:solidFill>
                <a:latin typeface="Aptos"/>
              </a:rPr>
              <a:t>Repeated promotion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566160"/>
            <a:ext cx="4800600" cy="448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313F"/>
                </a:solidFill>
                <a:latin typeface="Aptos"/>
              </a:rPr>
              <a:t>Meal-center observations repeat over weeks, so ordinary Mann–Whitney p-values are exploratory, not confirmatory.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3090672"/>
            <a:ext cx="524865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236976"/>
            <a:ext cx="48006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7324D"/>
                </a:solidFill>
                <a:latin typeface="Aptos"/>
              </a:rPr>
              <a:t>Revenue is estimated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566160"/>
            <a:ext cx="4800600" cy="448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313F"/>
                </a:solidFill>
                <a:latin typeface="Aptos"/>
              </a:rPr>
              <a:t>Checkout price × orders is a calculated estimate, not audited financial revenue.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443983"/>
            <a:ext cx="524865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4590288"/>
            <a:ext cx="48006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7324D"/>
                </a:solidFill>
                <a:latin typeface="Aptos"/>
              </a:rPr>
              <a:t>Centers are not normalized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4919471"/>
            <a:ext cx="4800600" cy="448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313F"/>
                </a:solidFill>
                <a:latin typeface="Aptos"/>
              </a:rPr>
              <a:t>Comparisons are not adjusted for operating area or meal mix.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936" y="4443983"/>
            <a:ext cx="524865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4590288"/>
            <a:ext cx="48006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7324D"/>
                </a:solidFill>
                <a:latin typeface="Aptos"/>
              </a:rPr>
              <a:t>Missing meal-weeks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919471"/>
            <a:ext cx="4800600" cy="448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313F"/>
                </a:solidFill>
                <a:latin typeface="Aptos"/>
              </a:rPr>
              <a:t>Unobserved meal-week combinations were not assumed to have zero demand or availability.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17383"/>
                </a:solidFill>
                <a:latin typeface="Aptos"/>
              </a:rPr>
              <a:t>FOOD DEMAND ANALYSIS  •  OBSERVED ORDER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EDAD4"/>
                </a:solidFill>
                <a:latin typeface="Aptos"/>
              </a:rPr>
              <a:t>07  /  RESPONSIBLE USE &amp;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Use analysis as a planning aid—not an autopilot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600200"/>
            <a:ext cx="6510528" cy="4315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865376"/>
            <a:ext cx="58338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7324D"/>
                </a:solidFill>
                <a:latin typeface="Aptos"/>
              </a:rPr>
              <a:t>How AI assistance was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5" y="2359152"/>
            <a:ext cx="5806440" cy="2414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313F"/>
                </a:solidFill>
                <a:latin typeface="Aptos"/>
              </a:rPr>
              <a:t>GitHub Copilot assisted with project organization, code drafting and review, debugging, and documenting the analysis and report.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313F"/>
                </a:solidFill>
                <a:latin typeface="Apto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313F"/>
                </a:solidFill>
                <a:latin typeface="Aptos"/>
              </a:rPr>
              <a:t>Notebook outputs, summary tables, and chart files were checked against project data. AI assistance is not independent proof of correctness; outputs need human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52944" y="1600200"/>
            <a:ext cx="3904487" cy="4315968"/>
          </a:xfrm>
          <a:prstGeom prst="roundRect">
            <a:avLst>
              <a:gd name="adj" fmla="val 12000"/>
            </a:avLst>
          </a:prstGeom>
          <a:solidFill>
            <a:srgbClr val="16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7" y="1965960"/>
            <a:ext cx="3246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D4F0E9"/>
                </a:solidFill>
                <a:latin typeface="Aptos"/>
              </a:rPr>
              <a:t>THE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2487168"/>
            <a:ext cx="3182112" cy="1719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Focus planning on where demand is concentrated, then measure whether inventory and promotion decisions improve.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4663440"/>
            <a:ext cx="315468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1F1EE"/>
                </a:solidFill>
                <a:latin typeface="Aptos"/>
              </a:rPr>
              <a:t>Start with a baseline. Track outcomes. Learn before scaling.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236208"/>
            <a:ext cx="8961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B7C8D4"/>
                </a:solidFill>
                <a:latin typeface="Aptos"/>
              </a:rPr>
              <a:t>FOOD DEMAND ANALYSIS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20272" y="651967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B7C8D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Demand Analysis</dc:title>
  <dc:subject>Demand patterns and responsible planning recommendations</dc:subject>
  <dc:creator>Food Demand Analysis Project</dc:creator>
  <cp:keywords>food demand, demand planning, descriptive analysis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